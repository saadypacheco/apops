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5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5251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1352" y="-2286000"/>
            <a:ext cx="5486400" cy="5486400"/>
          </a:xfrm>
          <a:prstGeom prst="ellipse">
            <a:avLst/>
          </a:prstGeom>
          <a:solidFill>
            <a:srgbClr val="1F72B8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7FCFE5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GREMIO · COMUNICACIÓN DIGITAL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APOPS Siempre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 cartelera y mail al celular: la plataforma digital que el gremio necesita para los próximos 10 años.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4754880"/>
            <a:ext cx="914400" cy="45720"/>
          </a:xfrm>
          <a:prstGeom prst="rect">
            <a:avLst/>
          </a:prstGeom>
          <a:solidFill>
            <a:srgbClr val="7FCF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9377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Asociación del Personal de los Organismos de Previsión Social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· 16 de mayo de 2026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¿Qué vamos a ver?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recorrido en 19 láminas por el problema, la propuesta y el plan.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377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463040" y="251460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hoy la comunicación del gremio se pierde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17920" y="2377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132320" y="251460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APOPS Siempre y a quién sirve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463040" y="352044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actor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Afiliados, delegados, CD y comunidad ANSES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920" y="3383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132320" y="352044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termómetro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Uso: medir el impacto en vivo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4389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463040" y="452628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y diferencial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hacerlo y por qué con esto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7920" y="4389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132320" y="452628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instala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PWA: sin Play Store ni App Store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5394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07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1463040" y="553212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viene en próximas iteraciones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EL PROBLEMA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gremio se queda invisible.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problemas concretos que la app resuelve.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468880"/>
            <a:ext cx="3611880" cy="1691640"/>
          </a:xfrm>
          <a:prstGeom prst="roundRect">
            <a:avLst>
              <a:gd name="adj" fmla="val 5405"/>
            </a:avLst>
          </a:prstGeom>
          <a:solidFill>
            <a:srgbClr val="1A325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697480"/>
            <a:ext cx="640080" cy="640080"/>
          </a:xfrm>
          <a:prstGeom prst="ellipse">
            <a:avLst/>
          </a:prstGeom>
          <a:solidFill>
            <a:srgbClr val="1F72B8">
              <a:alpha val="40000"/>
            </a:srgbClr>
          </a:solidFill>
          <a:ln w="19050">
            <a:solidFill>
              <a:srgbClr val="1F72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</a:t>
            </a:r>
            <a:endParaRPr lang="en-US" sz="2660" dirty="0"/>
          </a:p>
        </p:txBody>
      </p:sp>
      <p:sp>
        <p:nvSpPr>
          <p:cNvPr id="9" name="Text 7"/>
          <p:cNvSpPr/>
          <p:nvPr/>
        </p:nvSpPr>
        <p:spPr>
          <a:xfrm>
            <a:off x="1508760" y="2697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08760" y="31546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 y mensajes con alertas a los afiliados, delegados y también a la Comisión Directiva (CD).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2468880"/>
            <a:ext cx="3611880" cy="1691640"/>
          </a:xfrm>
          <a:prstGeom prst="roundRect">
            <a:avLst>
              <a:gd name="adj" fmla="val 5405"/>
            </a:avLst>
          </a:prstGeom>
          <a:solidFill>
            <a:srgbClr val="1A325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2697480"/>
            <a:ext cx="640080" cy="640080"/>
          </a:xfrm>
          <a:prstGeom prst="ellipse">
            <a:avLst/>
          </a:prstGeom>
          <a:solidFill>
            <a:srgbClr val="1F72B8">
              <a:alpha val="40000"/>
            </a:srgbClr>
          </a:solidFill>
          <a:ln w="19050">
            <a:solidFill>
              <a:srgbClr val="1F72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660" dirty="0"/>
          </a:p>
        </p:txBody>
      </p:sp>
      <p:sp>
        <p:nvSpPr>
          <p:cNvPr id="14" name="Text 12"/>
          <p:cNvSpPr/>
          <p:nvPr/>
        </p:nvSpPr>
        <p:spPr>
          <a:xfrm>
            <a:off x="5303520" y="2697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0" y="31546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Comisión Directiva (CD) va a saber quién leyó qué, qué delegados/afiliados recibieron la comunicación.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2468880"/>
            <a:ext cx="3611880" cy="1691640"/>
          </a:xfrm>
          <a:prstGeom prst="roundRect">
            <a:avLst>
              <a:gd name="adj" fmla="val 5405"/>
            </a:avLst>
          </a:prstGeom>
          <a:solidFill>
            <a:srgbClr val="1A325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2697480"/>
            <a:ext cx="640080" cy="640080"/>
          </a:xfrm>
          <a:prstGeom prst="ellipse">
            <a:avLst/>
          </a:prstGeom>
          <a:solidFill>
            <a:srgbClr val="1F72B8">
              <a:alpha val="40000"/>
            </a:srgbClr>
          </a:solidFill>
          <a:ln w="19050">
            <a:solidFill>
              <a:srgbClr val="1F72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660" dirty="0"/>
          </a:p>
        </p:txBody>
      </p:sp>
      <p:sp>
        <p:nvSpPr>
          <p:cNvPr id="19" name="Text 17"/>
          <p:cNvSpPr/>
          <p:nvPr/>
        </p:nvSpPr>
        <p:spPr>
          <a:xfrm>
            <a:off x="9098280" y="2697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Trámites online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098280" y="31546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Afiliarse desde la aplicación con firma digital, simple y con posterior aprobación. Recibo de alertas que llegaron sus anteojos.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343400"/>
            <a:ext cx="3611880" cy="1691640"/>
          </a:xfrm>
          <a:prstGeom prst="roundRect">
            <a:avLst>
              <a:gd name="adj" fmla="val 5405"/>
            </a:avLst>
          </a:prstGeom>
          <a:solidFill>
            <a:srgbClr val="1A325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572000"/>
            <a:ext cx="640080" cy="640080"/>
          </a:xfrm>
          <a:prstGeom prst="ellipse">
            <a:avLst/>
          </a:prstGeom>
          <a:solidFill>
            <a:srgbClr val="1F72B8">
              <a:alpha val="40000"/>
            </a:srgbClr>
          </a:solidFill>
          <a:ln w="19050">
            <a:solidFill>
              <a:srgbClr val="1F72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572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</a:t>
            </a:r>
            <a:endParaRPr lang="en-US" sz="2660" dirty="0"/>
          </a:p>
        </p:txBody>
      </p:sp>
      <p:sp>
        <p:nvSpPr>
          <p:cNvPr id="24" name="Text 22"/>
          <p:cNvSpPr/>
          <p:nvPr/>
        </p:nvSpPr>
        <p:spPr>
          <a:xfrm>
            <a:off x="1508760" y="4572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Compañeros de ANSES invisibles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08760" y="50292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ANSES no-APOPS sin manera de llegarles directamente.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43400" y="4343400"/>
            <a:ext cx="3611880" cy="1691640"/>
          </a:xfrm>
          <a:prstGeom prst="roundRect">
            <a:avLst>
              <a:gd name="adj" fmla="val 5405"/>
            </a:avLst>
          </a:prstGeom>
          <a:solidFill>
            <a:srgbClr val="1A325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26280" y="4572000"/>
            <a:ext cx="640080" cy="640080"/>
          </a:xfrm>
          <a:prstGeom prst="ellipse">
            <a:avLst/>
          </a:prstGeom>
          <a:solidFill>
            <a:srgbClr val="1F72B8">
              <a:alpha val="40000"/>
            </a:srgbClr>
          </a:solidFill>
          <a:ln w="19050">
            <a:solidFill>
              <a:srgbClr val="1F72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4572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2660" dirty="0"/>
          </a:p>
        </p:txBody>
      </p:sp>
      <p:sp>
        <p:nvSpPr>
          <p:cNvPr id="29" name="Text 27"/>
          <p:cNvSpPr/>
          <p:nvPr/>
        </p:nvSpPr>
        <p:spPr>
          <a:xfrm>
            <a:off x="5303520" y="4572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Delegado sin información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03520" y="50292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herramientas para los delegados de los edificios y regionales. Mejor comunicación con los afiliados.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COMPARATIVA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Antes vs. después.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cambia cada flujo cuando la app está en producción.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331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· SIN APP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949440" y="2331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APOPS SIEMPRE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11247120" cy="475488"/>
          </a:xfrm>
          <a:prstGeom prst="roundRect">
            <a:avLst>
              <a:gd name="adj" fmla="val 15385"/>
            </a:avLst>
          </a:prstGeom>
          <a:solidFill>
            <a:srgbClr val="1A325C">
              <a:alpha val="70000"/>
            </a:srgbClr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752344"/>
            <a:ext cx="365760" cy="365760"/>
          </a:xfrm>
          <a:prstGeom prst="ellipse">
            <a:avLst/>
          </a:prstGeom>
          <a:solidFill>
            <a:srgbClr val="1F72B8">
              <a:alpha val="40000"/>
            </a:srgbClr>
          </a:solidFill>
          <a:ln w="19050">
            <a:solidFill>
              <a:srgbClr val="1F72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7523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1097280" y="27432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o WhatsApp que se pierde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274320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75120" y="27432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 al celular con tasa de lectura medida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11247120" cy="475488"/>
          </a:xfrm>
          <a:prstGeom prst="roundRect">
            <a:avLst>
              <a:gd name="adj" fmla="val 15385"/>
            </a:avLst>
          </a:prstGeom>
          <a:solidFill>
            <a:srgbClr val="1A325C">
              <a:alpha val="70000"/>
            </a:srgbClr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3300984"/>
            <a:ext cx="365760" cy="365760"/>
          </a:xfrm>
          <a:prstGeom prst="ellipse">
            <a:avLst/>
          </a:prstGeom>
          <a:solidFill>
            <a:srgbClr val="1F72B8">
              <a:alpha val="40000"/>
            </a:srgbClr>
          </a:solidFill>
          <a:ln w="19050">
            <a:solidFill>
              <a:srgbClr val="1F72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3009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1097280" y="329184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Comunicados que no se leen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35040" y="329184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75120" y="329184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Novedades en feed + página pública compartible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794760"/>
            <a:ext cx="11247120" cy="475488"/>
          </a:xfrm>
          <a:prstGeom prst="roundRect">
            <a:avLst>
              <a:gd name="adj" fmla="val 15385"/>
            </a:avLst>
          </a:prstGeom>
          <a:solidFill>
            <a:srgbClr val="1A325C">
              <a:alpha val="70000"/>
            </a:srgbClr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849624"/>
            <a:ext cx="365760" cy="365760"/>
          </a:xfrm>
          <a:prstGeom prst="ellipse">
            <a:avLst/>
          </a:prstGeom>
          <a:solidFill>
            <a:srgbClr val="1F72B8">
              <a:alpha val="40000"/>
            </a:srgbClr>
          </a:solidFill>
          <a:ln w="19050">
            <a:solidFill>
              <a:srgbClr val="1F72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8496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1097280" y="384048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del delegado se inunda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35040" y="384048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675120" y="384048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Hilos 1-a-1 ordenados con historial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343400"/>
            <a:ext cx="11247120" cy="475488"/>
          </a:xfrm>
          <a:prstGeom prst="roundRect">
            <a:avLst>
              <a:gd name="adj" fmla="val 15385"/>
            </a:avLst>
          </a:prstGeom>
          <a:solidFill>
            <a:srgbClr val="1A325C">
              <a:alpha val="70000"/>
            </a:srgbClr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4398264"/>
            <a:ext cx="365760" cy="365760"/>
          </a:xfrm>
          <a:prstGeom prst="ellipse">
            <a:avLst/>
          </a:prstGeom>
          <a:solidFill>
            <a:srgbClr val="1F72B8">
              <a:alpha val="40000"/>
            </a:srgbClr>
          </a:solidFill>
          <a:ln w="19050">
            <a:solidFill>
              <a:srgbClr val="1F72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3982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520" dirty="0"/>
          </a:p>
        </p:txBody>
      </p:sp>
      <p:sp>
        <p:nvSpPr>
          <p:cNvPr id="29" name="Text 27"/>
          <p:cNvSpPr/>
          <p:nvPr/>
        </p:nvSpPr>
        <p:spPr>
          <a:xfrm>
            <a:off x="1097280" y="438912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sin saber cuántos leyeron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35040" y="438912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675120" y="438912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lectura en vivo (60-80%)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892040"/>
            <a:ext cx="11247120" cy="475488"/>
          </a:xfrm>
          <a:prstGeom prst="roundRect">
            <a:avLst>
              <a:gd name="adj" fmla="val 15385"/>
            </a:avLst>
          </a:prstGeom>
          <a:solidFill>
            <a:srgbClr val="1A325C">
              <a:alpha val="70000"/>
            </a:srgbClr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" y="4946904"/>
            <a:ext cx="365760" cy="365760"/>
          </a:xfrm>
          <a:prstGeom prst="ellipse">
            <a:avLst/>
          </a:prstGeom>
          <a:solidFill>
            <a:srgbClr val="1F72B8">
              <a:alpha val="40000"/>
            </a:srgbClr>
          </a:solidFill>
          <a:ln w="19050">
            <a:solidFill>
              <a:srgbClr val="1F72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49469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520" dirty="0"/>
          </a:p>
        </p:txBody>
      </p:sp>
      <p:sp>
        <p:nvSpPr>
          <p:cNvPr id="35" name="Text 33"/>
          <p:cNvSpPr/>
          <p:nvPr/>
        </p:nvSpPr>
        <p:spPr>
          <a:xfrm>
            <a:off x="1097280" y="493776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Delegado no ve a no-APOPS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035040" y="493776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675120" y="493776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completa del edificio con filtros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5440680"/>
            <a:ext cx="11247120" cy="475488"/>
          </a:xfrm>
          <a:prstGeom prst="roundRect">
            <a:avLst>
              <a:gd name="adj" fmla="val 15385"/>
            </a:avLst>
          </a:prstGeom>
          <a:solidFill>
            <a:srgbClr val="1A325C">
              <a:alpha val="70000"/>
            </a:srgbClr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4360" y="5495544"/>
            <a:ext cx="365760" cy="365760"/>
          </a:xfrm>
          <a:prstGeom prst="ellipse">
            <a:avLst/>
          </a:prstGeom>
          <a:solidFill>
            <a:srgbClr val="1F72B8">
              <a:alpha val="40000"/>
            </a:srgbClr>
          </a:solidFill>
          <a:ln w="19050">
            <a:solidFill>
              <a:srgbClr val="1F72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54955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</a:t>
            </a:r>
            <a:endParaRPr lang="en-US" sz="1520" dirty="0"/>
          </a:p>
        </p:txBody>
      </p:sp>
      <p:sp>
        <p:nvSpPr>
          <p:cNvPr id="41" name="Text 39"/>
          <p:cNvSpPr/>
          <p:nvPr/>
        </p:nvSpPr>
        <p:spPr>
          <a:xfrm>
            <a:off x="1097280" y="54864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Afiliación presencial con papeles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035040" y="548640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675120" y="54864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 online + firma digital + PDF por mail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7200" y="5989320"/>
            <a:ext cx="11247120" cy="475488"/>
          </a:xfrm>
          <a:prstGeom prst="roundRect">
            <a:avLst>
              <a:gd name="adj" fmla="val 15385"/>
            </a:avLst>
          </a:prstGeom>
          <a:solidFill>
            <a:srgbClr val="1A325C">
              <a:alpha val="70000"/>
            </a:srgbClr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" y="6044184"/>
            <a:ext cx="365760" cy="365760"/>
          </a:xfrm>
          <a:prstGeom prst="ellipse">
            <a:avLst/>
          </a:prstGeom>
          <a:solidFill>
            <a:srgbClr val="1F72B8">
              <a:alpha val="40000"/>
            </a:srgbClr>
          </a:solidFill>
          <a:ln w="19050">
            <a:solidFill>
              <a:srgbClr val="1F72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" y="60441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</a:t>
            </a:r>
            <a:endParaRPr lang="en-US" sz="1520" dirty="0"/>
          </a:p>
        </p:txBody>
      </p:sp>
      <p:sp>
        <p:nvSpPr>
          <p:cNvPr id="47" name="Text 45"/>
          <p:cNvSpPr/>
          <p:nvPr/>
        </p:nvSpPr>
        <p:spPr>
          <a:xfrm>
            <a:off x="1097280" y="603504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Compañeros invisibles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035040" y="603504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6675120" y="603504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pública con noticias y formulario de afiliación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5752" y="-1828800"/>
            <a:ext cx="4572000" cy="4572000"/>
          </a:xfrm>
          <a:prstGeom prst="ellipse">
            <a:avLst/>
          </a:prstGeom>
          <a:solidFill>
            <a:srgbClr val="1F72B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LA PROPUESTA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Una plataforma. Dos públicos.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5440680" cy="3108960"/>
          </a:xfrm>
          <a:prstGeom prst="roundRect">
            <a:avLst>
              <a:gd name="adj" fmla="val 4412"/>
            </a:avLst>
          </a:prstGeom>
          <a:solidFill>
            <a:srgbClr val="1A325C"/>
          </a:solidFill>
          <a:ln w="25400">
            <a:solidFill>
              <a:srgbClr val="1F72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337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APOPS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Afiliados activos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416052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+ credencial digital propia y familiar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bidireccional con CD y delegado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credencial por WhatsApp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del gremio al celular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3200400"/>
            <a:ext cx="5440680" cy="3108960"/>
          </a:xfrm>
          <a:prstGeom prst="roundRect">
            <a:avLst>
              <a:gd name="adj" fmla="val 4412"/>
            </a:avLst>
          </a:prstGeom>
          <a:solidFill>
            <a:srgbClr val="1A325C"/>
          </a:solidFill>
          <a:ln w="25400">
            <a:solidFill>
              <a:srgbClr val="7FCF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3337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todo ANSES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29400" y="36118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Compañeros no activos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629400" y="416052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pública sin login con noticias del gremio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Noticias importantes para los trabajadores de ANSES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al formulario de afiliación online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LOS NÚMEROS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 oportunidad real, en cifras.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Padrón ANSES vivo cargado en producción.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65176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1A325C"/>
          </a:solidFill>
          <a:ln w="25400">
            <a:solidFill>
              <a:srgbClr val="1F72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3464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11.558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Cotizantes en padrón ANSES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8463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Cargado mensualmente desde Excel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10712" y="265176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1A325C"/>
          </a:solidFill>
          <a:ln w="25400">
            <a:solidFill>
              <a:srgbClr val="1F72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0712" y="283464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~4.000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3593592" y="4206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Afiliados APOPS hoy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93592" y="48463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Universo de usuarios activos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72784" y="265176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1A325C"/>
          </a:solidFill>
          <a:ln w="25400">
            <a:solidFill>
              <a:srgbClr val="1F72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2784" y="283464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7.558+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6455664" y="4206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Compañeros no afiliados o de otros gremios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55664" y="48463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 de captación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34856" y="265176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1A325C"/>
          </a:solidFill>
          <a:ln w="25400">
            <a:solidFill>
              <a:srgbClr val="1F72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34856" y="283464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100%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9317736" y="4206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digital posible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17736" y="48463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instalable sin Play Store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PARA EL AFILIADO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Una herramienta en el bolsillo.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afiliado APOPS usa todos los días.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60320"/>
            <a:ext cx="6675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 digital propia y de cada miembro del grupo familiar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credencial por WhatsApp con link público al destinatario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de novedades del gremio en el home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directas del delegado o de la Comisión Directiva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flotante de contacto: WhatsApp / Email / Llamar siempre visible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Instalable en el celular como cualquier app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589520" y="2560320"/>
            <a:ext cx="4114800" cy="3291840"/>
          </a:xfrm>
          <a:prstGeom prst="roundRect">
            <a:avLst>
              <a:gd name="adj" fmla="val 4167"/>
            </a:avLst>
          </a:prstGeom>
          <a:solidFill>
            <a:srgbClr val="0F1F3D"/>
          </a:solidFill>
          <a:ln/>
        </p:spPr>
      </p:sp>
      <p:sp>
        <p:nvSpPr>
          <p:cNvPr id="8" name="Shape 6"/>
          <p:cNvSpPr/>
          <p:nvPr/>
        </p:nvSpPr>
        <p:spPr>
          <a:xfrm>
            <a:off x="7589520" y="2560320"/>
            <a:ext cx="41148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MÁS PESA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63840" y="3108960"/>
            <a:ext cx="365760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credencial siempre disponible es lo primero que el afiliado va a usar. Y compartirla por WhatsApp en 1 toque vuelve la app viral entre el grupo familiar.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PARA EL DELEGADO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Una vista completa de su edificio.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equipamiento que hoy no tiene.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60320"/>
            <a:ext cx="6675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completa del edificio: todas las personas del padrón ANSES, no solo APOPS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Buscador por nombre, DNI o legajo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gremio: APOPS / ATE / UPCN / SEC / sin gremio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inmediata de candidatos a captación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Hilos de comunicación bidireccional con la CD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automáticas ante altas/bajas en su edificio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WhatsApp para eventos del mes (cumpleaños, aniversarios)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589520" y="2560320"/>
            <a:ext cx="4114800" cy="3291840"/>
          </a:xfrm>
          <a:prstGeom prst="roundRect">
            <a:avLst>
              <a:gd name="adj" fmla="val 4167"/>
            </a:avLst>
          </a:prstGeom>
          <a:solidFill>
            <a:srgbClr val="0F1F3D"/>
          </a:solidFill>
          <a:ln/>
        </p:spPr>
      </p:sp>
      <p:sp>
        <p:nvSpPr>
          <p:cNvPr id="8" name="Shape 6"/>
          <p:cNvSpPr/>
          <p:nvPr/>
        </p:nvSpPr>
        <p:spPr>
          <a:xfrm>
            <a:off x="7589520" y="2560320"/>
            <a:ext cx="41148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MÁS PESA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63840" y="3108960"/>
            <a:ext cx="365760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el delegado no tiene cómo ver fácilmente quiénes son los compañeros NO-APOPS del edificio. Con esta vista los identifica en segundos y puede invitarlos uno por uno.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PARA LA COMISIÓN DIRECTIVA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Decisiones con datos, no con intuición.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admin + dashboard de 7 vistas en vivo.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60320"/>
            <a:ext cx="6675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novedades: crear, editar, despublicar, eliminar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del padrón ANSES desde Excel con histórico mensual preservado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vistas: Resumen, Padrón, Evolución, Eventos, Delegados, Uso, Altas/Bajas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de afiliaciones online con firma + auditoría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Mensajería interna con delegados y afiliados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Argentina + heatmap de edificios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del mes (cumpleaños, aniversarios) con plantillas listas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589520" y="2560320"/>
            <a:ext cx="4114800" cy="3291840"/>
          </a:xfrm>
          <a:prstGeom prst="roundRect">
            <a:avLst>
              <a:gd name="adj" fmla="val 4167"/>
            </a:avLst>
          </a:prstGeom>
          <a:solidFill>
            <a:srgbClr val="0F1F3D"/>
          </a:solidFill>
          <a:ln/>
        </p:spPr>
      </p:sp>
      <p:sp>
        <p:nvSpPr>
          <p:cNvPr id="8" name="Shape 6"/>
          <p:cNvSpPr/>
          <p:nvPr/>
        </p:nvSpPr>
        <p:spPr>
          <a:xfrm>
            <a:off x="7589520" y="2560320"/>
            <a:ext cx="41148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MÁS PESA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63840" y="3108960"/>
            <a:ext cx="365760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acción de la CD queda registrada y medida. La CD pasa de "creemos que llega" a "el 73% de los afiliados leyó la comunicación de paritaria en menos de 6 horas".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1F72B8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LA JOYA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termómetro del gremio.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"Uso" del dashboard CD: mide adopción, comunicación y engagement en vivo. Hoy ningún gremio tiene esto.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1A325C"/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337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Adopción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416052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afiliados con cuenta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 / WAU / MAU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activos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Embudo visual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320040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1A325C"/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3337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Comunicación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57600" y="416052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enviadas (afiliados / delegados)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lectura (60% / 80%)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medio entre envío y lectura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320040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1A325C"/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337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3611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Delegados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92240" y="416052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Registrados / activos 30d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Leyeron CD 30d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por actividad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Inactivos accionables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0" y="320040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1A325C"/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0" y="3337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26880" y="3611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Llega a CD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326880" y="416052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Hilos de delegados 30d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Hilos de afiliados 30d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leer por admin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Afiliaciones online por estado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6952" y="-1828800"/>
            <a:ext cx="6400800" cy="6400800"/>
          </a:xfrm>
          <a:prstGeom prst="ellipse">
            <a:avLst/>
          </a:prstGeom>
          <a:solidFill>
            <a:srgbClr val="1F72B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200400"/>
            <a:ext cx="4572000" cy="4572000"/>
          </a:xfrm>
          <a:prstGeom prst="ellipse">
            <a:avLst/>
          </a:prstGeom>
          <a:solidFill>
            <a:srgbClr val="7FCFE5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EN VIVO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producto funcionando.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reales del sistema con padrón ANSES de Julio 2016 cargado: 15.558 cotizantes, 4.631 APOPS, 529 delegados.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572000"/>
            <a:ext cx="1097280" cy="45720"/>
          </a:xfrm>
          <a:prstGeom prst="rect">
            <a:avLst/>
          </a:prstGeom>
          <a:solidFill>
            <a:srgbClr val="7FCF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709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son mockups. Es lo que ve hoy un admin de la CD al loguearse.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2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9507" y="576072"/>
            <a:ext cx="5148635" cy="5486400"/>
          </a:xfrm>
          <a:prstGeom prst="roundRect">
            <a:avLst>
              <a:gd name="adj" fmla="val 2131"/>
            </a:avLst>
          </a:prstGeom>
          <a:solidFill>
            <a:srgbClr val="000000">
              <a:alpha val="30000"/>
            </a:srgbClr>
          </a:solidFill>
          <a:ln/>
        </p:spPr>
      </p:sp>
      <p:pic>
        <p:nvPicPr>
          <p:cNvPr id="3" name="Image 0" descr="public/imagenes para software/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643" y="502920"/>
            <a:ext cx="5148635" cy="548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0" y="5486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EN VIVO · ACCESO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217920" y="914400"/>
            <a:ext cx="5669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Login simple del afiliado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217920" y="2331720"/>
            <a:ext cx="73152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0" y="251460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DNI o legajo + clave. Magic link si se olvida la contraseña. Instalable en 1 toque.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17920" y="4023360"/>
            <a:ext cx="5669280" cy="1463040"/>
          </a:xfrm>
          <a:prstGeom prst="roundRect">
            <a:avLst>
              <a:gd name="adj" fmla="val 7500"/>
            </a:avLst>
          </a:prstGeom>
          <a:solidFill>
            <a:srgbClr val="1F72B8">
              <a:alpha val="20000"/>
            </a:srgbClr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46520" y="4160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DATO DESTACADO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46520" y="4434840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pública en apops.vercel.app — también visible desde computadora.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2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95094" y="576072"/>
            <a:ext cx="2537460" cy="5486400"/>
          </a:xfrm>
          <a:prstGeom prst="roundRect">
            <a:avLst>
              <a:gd name="adj" fmla="val 4324"/>
            </a:avLst>
          </a:prstGeom>
          <a:solidFill>
            <a:srgbClr val="000000">
              <a:alpha val="30000"/>
            </a:srgbClr>
          </a:solidFill>
          <a:ln/>
        </p:spPr>
      </p:sp>
      <p:pic>
        <p:nvPicPr>
          <p:cNvPr id="3" name="Image 0" descr="public/imagenes para software/dasjboard.png"/>
          <p:cNvPicPr>
            <a:picLocks noChangeAspect="1"/>
          </p:cNvPicPr>
          <p:nvPr/>
        </p:nvPicPr>
        <p:blipFill rotWithShape="1">
          <a:blip r:embed="rId3"/>
          <a:srcRect t="5595"/>
          <a:stretch/>
        </p:blipFill>
        <p:spPr>
          <a:xfrm>
            <a:off x="940527" y="600888"/>
            <a:ext cx="4362994" cy="57893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0" y="5486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EN VIVO · PANEL ADMIN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217920" y="914400"/>
            <a:ext cx="5669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Panel de la Comisión Directiva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217920" y="2331720"/>
            <a:ext cx="73152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0" y="251460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Atajos a todas las funciones administrativas con badges de pendientes.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17920" y="4023360"/>
            <a:ext cx="5669280" cy="1463040"/>
          </a:xfrm>
          <a:prstGeom prst="roundRect">
            <a:avLst>
              <a:gd name="adj" fmla="val 7500"/>
            </a:avLst>
          </a:prstGeom>
          <a:solidFill>
            <a:srgbClr val="1F72B8">
              <a:alpha val="20000"/>
            </a:srgbClr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46520" y="4160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DATO DESTACADO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46520" y="4434840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de delegados sin leer y notificaciones aparecen con badge naranja.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32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114" y="576072"/>
            <a:ext cx="4161420" cy="5486400"/>
          </a:xfrm>
          <a:prstGeom prst="roundRect">
            <a:avLst>
              <a:gd name="adj" fmla="val 2637"/>
            </a:avLst>
          </a:prstGeom>
          <a:solidFill>
            <a:srgbClr val="000000">
              <a:alpha val="30000"/>
            </a:srgbClr>
          </a:solidFill>
          <a:ln/>
        </p:spPr>
      </p:sp>
      <p:pic>
        <p:nvPicPr>
          <p:cNvPr id="3" name="Image 0" descr="public/imagenes para software/dashboard-resum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457" y="502920"/>
            <a:ext cx="4471213" cy="58948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0" y="5486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EN VIVO · DASHBOARD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217920" y="914400"/>
            <a:ext cx="5669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Dashboard CD — vista Resumen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217920" y="2331720"/>
            <a:ext cx="73152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0" y="251460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KPI cards con delta vs mes anterior. Selector de período arriba.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17920" y="4023360"/>
            <a:ext cx="5669280" cy="1463040"/>
          </a:xfrm>
          <a:prstGeom prst="roundRect">
            <a:avLst>
              <a:gd name="adj" fmla="val 7500"/>
            </a:avLst>
          </a:prstGeom>
          <a:solidFill>
            <a:srgbClr val="1F72B8">
              <a:alpha val="20000"/>
            </a:srgbClr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46520" y="4160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DATO DESTACADO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46520" y="4434840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15.558 cotizantes · 4.631 APOPS · 529 delegados · % adopción vs objetivo 70%.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32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576072"/>
            <a:ext cx="5303520" cy="3510335"/>
          </a:xfrm>
          <a:prstGeom prst="roundRect">
            <a:avLst>
              <a:gd name="adj" fmla="val 3126"/>
            </a:avLst>
          </a:prstGeom>
          <a:solidFill>
            <a:srgbClr val="000000">
              <a:alpha val="30000"/>
            </a:srgbClr>
          </a:solidFill>
          <a:ln/>
        </p:spPr>
      </p:sp>
      <p:pic>
        <p:nvPicPr>
          <p:cNvPr id="3" name="Image 0" descr="public/imagenes para software/dashboard-padron-mapa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3" y="558122"/>
            <a:ext cx="5560246" cy="55944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0" y="5486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EN VIVO · PADRÓN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217920" y="914400"/>
            <a:ext cx="5669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Distribución geográfica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217920" y="2331720"/>
            <a:ext cx="73152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0" y="251460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SVG de Argentina con choropleth + números por provincia + CABA destacada.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17920" y="4023360"/>
            <a:ext cx="5669280" cy="1463040"/>
          </a:xfrm>
          <a:prstGeom prst="roundRect">
            <a:avLst>
              <a:gd name="adj" fmla="val 7500"/>
            </a:avLst>
          </a:prstGeom>
          <a:solidFill>
            <a:srgbClr val="1F72B8">
              <a:alpha val="20000"/>
            </a:srgbClr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46520" y="4160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DATO DESTACADO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46520" y="4434840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CABA concentra 1.2k afiliados APOPS. Buenos Aires 524. Córdoba 301.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32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95094" y="576072"/>
            <a:ext cx="2537460" cy="5486400"/>
          </a:xfrm>
          <a:prstGeom prst="roundRect">
            <a:avLst>
              <a:gd name="adj" fmla="val 4324"/>
            </a:avLst>
          </a:prstGeom>
          <a:solidFill>
            <a:srgbClr val="000000">
              <a:alpha val="30000"/>
            </a:srgbClr>
          </a:solidFill>
          <a:ln/>
        </p:spPr>
      </p:sp>
      <p:pic>
        <p:nvPicPr>
          <p:cNvPr id="3" name="Image 0" descr="public/imagenes para software/dashboard-delegados.png"/>
          <p:cNvPicPr>
            <a:picLocks noChangeAspect="1"/>
          </p:cNvPicPr>
          <p:nvPr/>
        </p:nvPicPr>
        <p:blipFill rotWithShape="1">
          <a:blip r:embed="rId3"/>
          <a:srcRect t="5833"/>
          <a:stretch/>
        </p:blipFill>
        <p:spPr>
          <a:xfrm>
            <a:off x="600891" y="627015"/>
            <a:ext cx="5029199" cy="561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0" y="5486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EN VIVO · DELEGADOS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217920" y="914400"/>
            <a:ext cx="5669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Comisión Directiva — Delegados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217920" y="2331720"/>
            <a:ext cx="73152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0" y="251460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529 delegados activos. Mandatos que vencen en 30 días en alerta. Edificios sin delegado.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17920" y="4023360"/>
            <a:ext cx="5669280" cy="1463040"/>
          </a:xfrm>
          <a:prstGeom prst="roundRect">
            <a:avLst>
              <a:gd name="adj" fmla="val 7500"/>
            </a:avLst>
          </a:prstGeom>
          <a:solidFill>
            <a:srgbClr val="1F72B8">
              <a:alpha val="20000"/>
            </a:srgbClr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46520" y="4160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DATO DESTACADO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46520" y="4434840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mandatos por vencer este mes — listado accionable. 10 edificios APOPS sin delegado asignado.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32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95094" y="576072"/>
            <a:ext cx="2537460" cy="5486400"/>
          </a:xfrm>
          <a:prstGeom prst="roundRect">
            <a:avLst>
              <a:gd name="adj" fmla="val 4324"/>
            </a:avLst>
          </a:prstGeom>
          <a:solidFill>
            <a:srgbClr val="000000">
              <a:alpha val="30000"/>
            </a:srgbClr>
          </a:solidFill>
          <a:ln/>
        </p:spPr>
      </p:sp>
      <p:pic>
        <p:nvPicPr>
          <p:cNvPr id="3" name="Image 0" descr="public/imagenes para software/DashboardalertasDelegado.jpeg"/>
          <p:cNvPicPr>
            <a:picLocks noChangeAspect="1"/>
          </p:cNvPicPr>
          <p:nvPr/>
        </p:nvPicPr>
        <p:blipFill rotWithShape="1">
          <a:blip r:embed="rId3"/>
          <a:srcRect t="10358" b="20119"/>
          <a:stretch/>
        </p:blipFill>
        <p:spPr>
          <a:xfrm>
            <a:off x="457201" y="587823"/>
            <a:ext cx="5037148" cy="54929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0" y="5486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EN VIVO · DELEGADO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217920" y="914400"/>
            <a:ext cx="5669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delegado ve su edificio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217920" y="2331720"/>
            <a:ext cx="73152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0" y="251460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automáticas de altas y bajas. Comunicación directa con la CD.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17920" y="4023360"/>
            <a:ext cx="5669280" cy="1463040"/>
          </a:xfrm>
          <a:prstGeom prst="roundRect">
            <a:avLst>
              <a:gd name="adj" fmla="val 7500"/>
            </a:avLst>
          </a:prstGeom>
          <a:solidFill>
            <a:srgbClr val="1F72B8">
              <a:alpha val="20000"/>
            </a:srgbClr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46520" y="4160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DATO DESTACADO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46520" y="4434840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delegado recibe notificación cuando hay movimientos en su edificio o consultas.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32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576072"/>
            <a:ext cx="5303520" cy="3722839"/>
          </a:xfrm>
          <a:prstGeom prst="roundRect">
            <a:avLst>
              <a:gd name="adj" fmla="val 2947"/>
            </a:avLst>
          </a:prstGeom>
          <a:solidFill>
            <a:srgbClr val="000000">
              <a:alpha val="30000"/>
            </a:srgbClr>
          </a:solidFill>
          <a:ln/>
        </p:spPr>
      </p:sp>
      <p:pic>
        <p:nvPicPr>
          <p:cNvPr id="3" name="Image 0" descr="public/imagenes para software/dashboardAltaBaj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02921"/>
            <a:ext cx="5303520" cy="4983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0" y="5486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EN VIVO · OPERACIÓN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217920" y="914400"/>
            <a:ext cx="5669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Altas y bajas accionables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217920" y="2331720"/>
            <a:ext cx="73152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0" y="251460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de movimientos con plantillas WhatsApp pre-cargadas para saludar / despedir.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17920" y="4023360"/>
            <a:ext cx="5669280" cy="1463040"/>
          </a:xfrm>
          <a:prstGeom prst="roundRect">
            <a:avLst>
              <a:gd name="adj" fmla="val 7500"/>
            </a:avLst>
          </a:prstGeom>
          <a:solidFill>
            <a:srgbClr val="1F72B8">
              <a:alpha val="20000"/>
            </a:srgbClr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46520" y="4160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DATO DESTACADO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46520" y="4434840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"Mensaje bienvenida" aparece solo si la persona es APOPS — para no-APOPS es invitación.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PARA TODA ANSES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Llegamos también a los que no son APOPS.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niveles de profundidad pública sin barrera.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65176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0F1F3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651760"/>
            <a:ext cx="3611880" cy="7315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926080"/>
            <a:ext cx="822960" cy="822960"/>
          </a:xfrm>
          <a:prstGeom prst="ellipse">
            <a:avLst/>
          </a:prstGeom>
          <a:solidFill>
            <a:srgbClr val="7FCFE5">
              <a:alpha val="40000"/>
            </a:srgbClr>
          </a:solidFill>
          <a:ln w="19050">
            <a:solidFill>
              <a:srgbClr val="7FCF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26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3420" dirty="0"/>
          </a:p>
        </p:txBody>
      </p:sp>
      <p:sp>
        <p:nvSpPr>
          <p:cNvPr id="10" name="Text 8"/>
          <p:cNvSpPr/>
          <p:nvPr/>
        </p:nvSpPr>
        <p:spPr>
          <a:xfrm>
            <a:off x="822960" y="3749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023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pública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452628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compañero de ANSES entra a siempreapops y ve novedades, carousel y CTA "Afiliarme".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43400" y="265176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0F1F3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2651760"/>
            <a:ext cx="3611880" cy="7315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15" name="Shape 13"/>
          <p:cNvSpPr/>
          <p:nvPr/>
        </p:nvSpPr>
        <p:spPr>
          <a:xfrm>
            <a:off x="4617720" y="2926080"/>
            <a:ext cx="822960" cy="822960"/>
          </a:xfrm>
          <a:prstGeom prst="ellipse">
            <a:avLst/>
          </a:prstGeom>
          <a:solidFill>
            <a:srgbClr val="7FCFE5">
              <a:alpha val="40000"/>
            </a:srgbClr>
          </a:solidFill>
          <a:ln w="19050">
            <a:solidFill>
              <a:srgbClr val="7FCF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2926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</a:t>
            </a:r>
            <a:endParaRPr lang="en-US" sz="3420" dirty="0"/>
          </a:p>
        </p:txBody>
      </p:sp>
      <p:sp>
        <p:nvSpPr>
          <p:cNvPr id="17" name="Text 15"/>
          <p:cNvSpPr/>
          <p:nvPr/>
        </p:nvSpPr>
        <p:spPr>
          <a:xfrm>
            <a:off x="4617720" y="3749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17720" y="4023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/noticias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617720" y="452628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completo de novedades del gremio, también sin login. Compartible por WhatsApp orgánico.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38160" y="265176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0F1F3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0" y="2651760"/>
            <a:ext cx="3611880" cy="7315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22" name="Shape 20"/>
          <p:cNvSpPr/>
          <p:nvPr/>
        </p:nvSpPr>
        <p:spPr>
          <a:xfrm>
            <a:off x="8412480" y="2926080"/>
            <a:ext cx="822960" cy="822960"/>
          </a:xfrm>
          <a:prstGeom prst="ellipse">
            <a:avLst/>
          </a:prstGeom>
          <a:solidFill>
            <a:srgbClr val="7FCFE5">
              <a:alpha val="40000"/>
            </a:srgbClr>
          </a:solidFill>
          <a:ln w="19050">
            <a:solidFill>
              <a:srgbClr val="7FCF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0" y="2926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3420" dirty="0"/>
          </a:p>
        </p:txBody>
      </p:sp>
      <p:sp>
        <p:nvSpPr>
          <p:cNvPr id="24" name="Text 22"/>
          <p:cNvSpPr/>
          <p:nvPr/>
        </p:nvSpPr>
        <p:spPr>
          <a:xfrm>
            <a:off x="8412480" y="3749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0" y="4023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/noticias/[id]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412480" y="452628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noticia individual con link directo. Los delegados las pueden difundir a no-afiliados con 1 toque.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"Cada noticia que la CD publica es contenido compartible que cualquier delegado puede mandar a sus contactos no-APOPS."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AFILIACIÓN ONLINE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pasos. Firma digital. PDF por mail.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papeles, sin presencia, con trazabilidad legal.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60604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A325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7432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obligatorios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023360"/>
            <a:ext cx="31089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 (selector del padrón)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Apellido y nombre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DNI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Legajo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 y email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260604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A325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7432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617720" y="3520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opcionales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4023360"/>
            <a:ext cx="31089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Domicilio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 / adherentes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CBU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del puesto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colapsable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260604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A325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27432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412480" y="3520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+ firma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4023360"/>
            <a:ext cx="31089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completa de lo cargado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Autorización descuento 3%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con el dedo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generado + enviado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98932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1F72B8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598932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PDF firmado se envía automáticamente a 3 destinatarios: al aspirante, a la CD y al delegado del edificio.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BENEFICIOS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 que gana el sindicato.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concreto en operación, imagen y crecimiento.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65176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1A325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26080"/>
            <a:ext cx="548640" cy="548640"/>
          </a:xfrm>
          <a:prstGeom prst="ellipse">
            <a:avLst/>
          </a:prstGeom>
          <a:solidFill>
            <a:srgbClr val="1F72B8">
              <a:alpha val="40000"/>
            </a:srgbClr>
          </a:solidFill>
          <a:ln w="19050">
            <a:solidFill>
              <a:srgbClr val="1F72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</a:t>
            </a:r>
            <a:endParaRPr lang="en-US" sz="2280" dirty="0"/>
          </a:p>
        </p:txBody>
      </p:sp>
      <p:sp>
        <p:nvSpPr>
          <p:cNvPr id="9" name="Text 7"/>
          <p:cNvSpPr/>
          <p:nvPr/>
        </p:nvSpPr>
        <p:spPr>
          <a:xfrm>
            <a:off x="1417320" y="292608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atención telefónica y presencial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10712" y="265176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1A325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93592" y="2926080"/>
            <a:ext cx="548640" cy="548640"/>
          </a:xfrm>
          <a:prstGeom prst="ellipse">
            <a:avLst/>
          </a:prstGeom>
          <a:solidFill>
            <a:srgbClr val="1F72B8">
              <a:alpha val="40000"/>
            </a:srgbClr>
          </a:solidFill>
          <a:ln w="19050">
            <a:solidFill>
              <a:srgbClr val="1F72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93592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80" dirty="0"/>
          </a:p>
        </p:txBody>
      </p:sp>
      <p:sp>
        <p:nvSpPr>
          <p:cNvPr id="13" name="Text 11"/>
          <p:cNvSpPr/>
          <p:nvPr/>
        </p:nvSpPr>
        <p:spPr>
          <a:xfrm>
            <a:off x="4279392" y="292608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concretas de impacto comunicacional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72784" y="265176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1A325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55664" y="2926080"/>
            <a:ext cx="548640" cy="548640"/>
          </a:xfrm>
          <a:prstGeom prst="ellipse">
            <a:avLst/>
          </a:prstGeom>
          <a:solidFill>
            <a:srgbClr val="1F72B8">
              <a:alpha val="40000"/>
            </a:srgbClr>
          </a:solidFill>
          <a:ln w="19050">
            <a:solidFill>
              <a:srgbClr val="1F72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55664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280" dirty="0"/>
          </a:p>
        </p:txBody>
      </p:sp>
      <p:sp>
        <p:nvSpPr>
          <p:cNvPr id="17" name="Text 15"/>
          <p:cNvSpPr/>
          <p:nvPr/>
        </p:nvSpPr>
        <p:spPr>
          <a:xfrm>
            <a:off x="7141464" y="292608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Captación de cotizantes ANSES no-APOPS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34856" y="265176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1A325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17736" y="2926080"/>
            <a:ext cx="548640" cy="548640"/>
          </a:xfrm>
          <a:prstGeom prst="ellipse">
            <a:avLst/>
          </a:prstGeom>
          <a:solidFill>
            <a:srgbClr val="1F72B8">
              <a:alpha val="40000"/>
            </a:srgbClr>
          </a:solidFill>
          <a:ln w="19050">
            <a:solidFill>
              <a:srgbClr val="1F72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17736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</a:t>
            </a:r>
            <a:endParaRPr lang="en-US" sz="2280" dirty="0"/>
          </a:p>
        </p:txBody>
      </p:sp>
      <p:sp>
        <p:nvSpPr>
          <p:cNvPr id="21" name="Text 19"/>
          <p:cNvSpPr/>
          <p:nvPr/>
        </p:nvSpPr>
        <p:spPr>
          <a:xfrm>
            <a:off x="10003536" y="292608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institucional moderna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38912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1A325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4663440"/>
            <a:ext cx="548640" cy="548640"/>
          </a:xfrm>
          <a:prstGeom prst="ellipse">
            <a:avLst/>
          </a:prstGeom>
          <a:solidFill>
            <a:srgbClr val="1F72B8">
              <a:alpha val="40000"/>
            </a:srgbClr>
          </a:solidFill>
          <a:ln w="19050">
            <a:solidFill>
              <a:srgbClr val="1F72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663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280" dirty="0"/>
          </a:p>
        </p:txBody>
      </p:sp>
      <p:sp>
        <p:nvSpPr>
          <p:cNvPr id="25" name="Text 23"/>
          <p:cNvSpPr/>
          <p:nvPr/>
        </p:nvSpPr>
        <p:spPr>
          <a:xfrm>
            <a:off x="1417320" y="466344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Digitalización: afiliación, padrón, comunicación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10712" y="438912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1A325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93592" y="4663440"/>
            <a:ext cx="548640" cy="548640"/>
          </a:xfrm>
          <a:prstGeom prst="ellipse">
            <a:avLst/>
          </a:prstGeom>
          <a:solidFill>
            <a:srgbClr val="1F72B8">
              <a:alpha val="40000"/>
            </a:srgbClr>
          </a:solidFill>
          <a:ln w="19050">
            <a:solidFill>
              <a:srgbClr val="1F72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93592" y="4663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2280" dirty="0"/>
          </a:p>
        </p:txBody>
      </p:sp>
      <p:sp>
        <p:nvSpPr>
          <p:cNvPr id="29" name="Text 27"/>
          <p:cNvSpPr/>
          <p:nvPr/>
        </p:nvSpPr>
        <p:spPr>
          <a:xfrm>
            <a:off x="4279392" y="466344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en vivo para la toma de decisiones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72784" y="438912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1A325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55664" y="4663440"/>
            <a:ext cx="548640" cy="548640"/>
          </a:xfrm>
          <a:prstGeom prst="ellipse">
            <a:avLst/>
          </a:prstGeom>
          <a:solidFill>
            <a:srgbClr val="1F72B8">
              <a:alpha val="40000"/>
            </a:srgbClr>
          </a:solidFill>
          <a:ln w="19050">
            <a:solidFill>
              <a:srgbClr val="1F72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55664" y="4663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</a:t>
            </a:r>
            <a:endParaRPr lang="en-US" sz="2280" dirty="0"/>
          </a:p>
        </p:txBody>
      </p:sp>
      <p:sp>
        <p:nvSpPr>
          <p:cNvPr id="33" name="Text 31"/>
          <p:cNvSpPr/>
          <p:nvPr/>
        </p:nvSpPr>
        <p:spPr>
          <a:xfrm>
            <a:off x="7141464" y="466344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costos de Play Store ni App Store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134856" y="438912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1A325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317736" y="4663440"/>
            <a:ext cx="548640" cy="548640"/>
          </a:xfrm>
          <a:prstGeom prst="ellipse">
            <a:avLst/>
          </a:prstGeom>
          <a:solidFill>
            <a:srgbClr val="1F72B8">
              <a:alpha val="40000"/>
            </a:srgbClr>
          </a:solidFill>
          <a:ln w="19050">
            <a:solidFill>
              <a:srgbClr val="1F72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17736" y="4663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280" dirty="0"/>
          </a:p>
        </p:txBody>
      </p:sp>
      <p:sp>
        <p:nvSpPr>
          <p:cNvPr id="37" name="Text 35"/>
          <p:cNvSpPr/>
          <p:nvPr/>
        </p:nvSpPr>
        <p:spPr>
          <a:xfrm>
            <a:off x="10003536" y="466344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Actualizaciones automáticas para todos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27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DIFERENCIAL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es una app de credencial digital.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infraestructura de comunicación bidireccional medible.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060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554480" y="2651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públicos a la vez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554480" y="310896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Afiliados con experiencia completa + comunidad ANSES con contenido público — captación incluida.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26060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7223760" y="2651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Termómetro vivo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223760" y="310896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CD mide adopción, lectura, engagement de delegados. Ningún gremio tiene esto hoy.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3891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1554480" y="4434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Delegado equipado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554480" y="489204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edificio con filtros por gremio para identificar oportunidades de afiliación.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43891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72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7223760" y="4434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legal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223760" y="489204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Afiliación online con firma digital embebida + PDF auditable + 3 destinatarios. Defensible.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27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INSTALACIÓN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 menos de 10 segundos.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PWA: sin Play Store ni App Store, directo desde el navegador.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606040"/>
            <a:ext cx="3611880" cy="3657600"/>
          </a:xfrm>
          <a:prstGeom prst="roundRect">
            <a:avLst>
              <a:gd name="adj" fmla="val 2532"/>
            </a:avLst>
          </a:prstGeom>
          <a:solidFill>
            <a:srgbClr val="0F1F3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743200"/>
            <a:ext cx="777240" cy="777240"/>
          </a:xfrm>
          <a:prstGeom prst="ellipse">
            <a:avLst/>
          </a:prstGeom>
          <a:solidFill>
            <a:srgbClr val="7FCFE5">
              <a:alpha val="40000"/>
            </a:srgbClr>
          </a:solidFill>
          <a:ln w="19050">
            <a:solidFill>
              <a:srgbClr val="7FCF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43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3230" dirty="0"/>
          </a:p>
        </p:txBody>
      </p:sp>
      <p:sp>
        <p:nvSpPr>
          <p:cNvPr id="9" name="Text 7"/>
          <p:cNvSpPr/>
          <p:nvPr/>
        </p:nvSpPr>
        <p:spPr>
          <a:xfrm>
            <a:off x="1828800" y="2788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828800" y="3246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703320"/>
            <a:ext cx="31089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Abrir Chrome en apops.vercel.app2.  Tocar el banner "Instalar app" o el botón del header3.  Confirmar4.  Ícono APOPS en el home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2606040"/>
            <a:ext cx="3611880" cy="3657600"/>
          </a:xfrm>
          <a:prstGeom prst="roundRect">
            <a:avLst>
              <a:gd name="adj" fmla="val 2532"/>
            </a:avLst>
          </a:prstGeom>
          <a:solidFill>
            <a:srgbClr val="0F1F3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2743200"/>
            <a:ext cx="777240" cy="777240"/>
          </a:xfrm>
          <a:prstGeom prst="ellipse">
            <a:avLst/>
          </a:prstGeom>
          <a:solidFill>
            <a:srgbClr val="7FCFE5">
              <a:alpha val="40000"/>
            </a:srgbClr>
          </a:solidFill>
          <a:ln w="19050">
            <a:solidFill>
              <a:srgbClr val="7FCF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743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🍎</a:t>
            </a:r>
            <a:endParaRPr lang="en-US" sz="3230" dirty="0"/>
          </a:p>
        </p:txBody>
      </p:sp>
      <p:sp>
        <p:nvSpPr>
          <p:cNvPr id="15" name="Text 13"/>
          <p:cNvSpPr/>
          <p:nvPr/>
        </p:nvSpPr>
        <p:spPr>
          <a:xfrm>
            <a:off x="5623560" y="2788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/ iPad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623560" y="3246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17720" y="3703320"/>
            <a:ext cx="31089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Abrir Safari en apops.vercel.app2.  Tocar Compartir (cuadrado con flecha)3.  Elegir "Agregar a pantalla de inicio"4.  Confirmar "Agregar"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8160" y="2606040"/>
            <a:ext cx="3611880" cy="3657600"/>
          </a:xfrm>
          <a:prstGeom prst="roundRect">
            <a:avLst>
              <a:gd name="adj" fmla="val 2532"/>
            </a:avLst>
          </a:prstGeom>
          <a:solidFill>
            <a:srgbClr val="0F1F3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0" y="2743200"/>
            <a:ext cx="777240" cy="777240"/>
          </a:xfrm>
          <a:prstGeom prst="ellipse">
            <a:avLst/>
          </a:prstGeom>
          <a:solidFill>
            <a:srgbClr val="7FCFE5">
              <a:alpha val="40000"/>
            </a:srgbClr>
          </a:solidFill>
          <a:ln w="19050">
            <a:solidFill>
              <a:srgbClr val="7FCF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2743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3230" dirty="0"/>
          </a:p>
        </p:txBody>
      </p:sp>
      <p:sp>
        <p:nvSpPr>
          <p:cNvPr id="21" name="Text 19"/>
          <p:cNvSpPr/>
          <p:nvPr/>
        </p:nvSpPr>
        <p:spPr>
          <a:xfrm>
            <a:off x="9418320" y="2788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Computadora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418320" y="3246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0" y="3703320"/>
            <a:ext cx="31089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Abrir Chrome / Edge / Brave2.  Ícono de instalación en la barra de URL3.  Menú · "Instalar APOPS Siempre"4.  Queda como app del sistema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6400800"/>
            <a:ext cx="11064240" cy="274320"/>
          </a:xfrm>
          <a:prstGeom prst="roundRect">
            <a:avLst>
              <a:gd name="adj" fmla="val 16667"/>
            </a:avLst>
          </a:prstGeom>
          <a:solidFill>
            <a:srgbClr val="1F72B8">
              <a:alpha val="1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Se actualiza sola. Cada vez que el usuario abre la app, el navegador descarga la última versión en background. Sin Update now, sin esperas.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27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ROADMAP CORTO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Próximas semanas.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con infra ya lista, falta configuración o terminar UI.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606040"/>
            <a:ext cx="73152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651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LISTA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51760" y="26517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push reales al celular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651760" y="29718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+ VAPID deployados. Falta cargar 3 variables de entorno en el servidor.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73152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LISTA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51760" y="352044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automático con PDF firmado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51760" y="38404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Generador y envío codeados. Falta cuenta de servicio + verificación de dominio.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73152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HECHO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51760" y="43891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"Publicador de noticias"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51760" y="47091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delegar la comunicación a Secretaría de Prensa sin acceso al padrón.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212080"/>
            <a:ext cx="73152" cy="6858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257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PLANEADO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51760" y="525780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end-to-end con Playwright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651760" y="55778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completa del flujo afiliado / delegado / admin.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27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ROADMAP MEDIANO/LARGO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 que viene en próximos meses.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que requieren diseño + desarrollo nuevo.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" cy="4572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743200"/>
            <a:ext cx="365760" cy="365760"/>
          </a:xfrm>
          <a:prstGeom prst="ellipse">
            <a:avLst/>
          </a:prstGeom>
          <a:solidFill>
            <a:srgbClr val="1F72B8">
              <a:alpha val="15000"/>
            </a:srgbClr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063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606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Delegados regionales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926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con varios edificios bajo su cargo y vista por región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2743200"/>
            <a:ext cx="365760" cy="365760"/>
          </a:xfrm>
          <a:prstGeom prst="ellipse">
            <a:avLst/>
          </a:prstGeom>
          <a:solidFill>
            <a:srgbClr val="1F72B8">
              <a:alpha val="15000"/>
            </a:srgbClr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77063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75120" y="2606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Farmacia médica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2926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y geolocalización en el mapa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365760" cy="365760"/>
          </a:xfrm>
          <a:prstGeom prst="ellipse">
            <a:avLst/>
          </a:prstGeom>
          <a:solidFill>
            <a:srgbClr val="1F72B8">
              <a:alpha val="15000"/>
            </a:srgbClr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4787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33832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y turismo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703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 de comercios adheridos + reservas en complejos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3520440"/>
            <a:ext cx="365760" cy="365760"/>
          </a:xfrm>
          <a:prstGeom prst="ellipse">
            <a:avLst/>
          </a:prstGeom>
          <a:solidFill>
            <a:srgbClr val="1F72B8">
              <a:alpha val="15000"/>
            </a:srgbClr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354787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33832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75120" y="3703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encuestas periódicas para poder hacer una lectura de lo que está pasando con los afiliados y delegados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297680"/>
            <a:ext cx="365760" cy="365760"/>
          </a:xfrm>
          <a:prstGeom prst="ellipse">
            <a:avLst/>
          </a:prstGeom>
          <a:solidFill>
            <a:srgbClr val="1F72B8">
              <a:alpha val="15000"/>
            </a:srgbClr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32511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41605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Autogestión adherentes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4480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titular agrega/edita familiares desde la app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4297680"/>
            <a:ext cx="365760" cy="365760"/>
          </a:xfrm>
          <a:prstGeom prst="ellipse">
            <a:avLst/>
          </a:prstGeom>
          <a:solidFill>
            <a:srgbClr val="1F72B8">
              <a:alpha val="15000"/>
            </a:srgbClr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432511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75120" y="41605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por pantalla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675120" y="4480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le interesa más a cada perfil para mejorar contenido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074920"/>
            <a:ext cx="365760" cy="365760"/>
          </a:xfrm>
          <a:prstGeom prst="ellipse">
            <a:avLst/>
          </a:prstGeom>
          <a:solidFill>
            <a:srgbClr val="1F72B8">
              <a:alpha val="15000"/>
            </a:srgbClr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510235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05840" y="49377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Votación interna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05840" y="5257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Asambleas digitales con identificación segura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5074920"/>
            <a:ext cx="365760" cy="365760"/>
          </a:xfrm>
          <a:prstGeom prst="ellipse">
            <a:avLst/>
          </a:prstGeom>
          <a:solidFill>
            <a:srgbClr val="1F72B8">
              <a:alpha val="15000"/>
            </a:srgbClr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510235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675120" y="49377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con IA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675120" y="5257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para consultas frecuentes (días de pago, trámites)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5852160"/>
            <a:ext cx="365760" cy="365760"/>
          </a:xfrm>
          <a:prstGeom prst="ellipse">
            <a:avLst/>
          </a:prstGeom>
          <a:solidFill>
            <a:srgbClr val="1F72B8">
              <a:alpha val="15000"/>
            </a:srgbClr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587959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05840" y="57150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APIs ANSES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005840" y="6035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automática sin cargar Excel mensual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17920" y="5852160"/>
            <a:ext cx="365760" cy="365760"/>
          </a:xfrm>
          <a:prstGeom prst="ellipse">
            <a:avLst/>
          </a:prstGeom>
          <a:solidFill>
            <a:srgbClr val="1F72B8">
              <a:alpha val="15000"/>
            </a:srgbClr>
          </a:solidFill>
          <a:ln w="12700">
            <a:solidFill>
              <a:srgbClr val="1F72B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587959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675120" y="57150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Regalos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675120" y="6035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automáticas cuando se realiza algún tipo de regalo: día de la madre, padres, etc.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27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51276" y="685800"/>
            <a:ext cx="5486400" cy="5486400"/>
          </a:xfrm>
          <a:prstGeom prst="ellipse">
            <a:avLst/>
          </a:prstGeom>
          <a:solidFill>
            <a:srgbClr val="1F72B8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7FCFE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1371600" y="256032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Esta no es una app de moda ni un gadget. Es la infraestructura digital que el gremio necesita para los próximos 10 años.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71600" y="4572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directa al afiliado · Visibilidad para captar 11.000 no-APOPS · Datos en vivo para decidir · Trámites digitales que ANSES ya va a exigir.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5577840"/>
            <a:ext cx="1097280" cy="45720"/>
          </a:xfrm>
          <a:prstGeom prst="rect">
            <a:avLst/>
          </a:prstGeom>
          <a:solidFill>
            <a:srgbClr val="7FCFE5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5715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FC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ya está. El próximo paso es decidir el rollout.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27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657600"/>
            <a:ext cx="5486400" cy="5486400"/>
          </a:xfrm>
          <a:prstGeom prst="ellipse">
            <a:avLst/>
          </a:prstGeom>
          <a:solidFill>
            <a:srgbClr val="1F72B8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kern="0" spc="6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GRACIAS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Preguntas, comentarios, próximos pasos.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3931920"/>
            <a:ext cx="73152" cy="1463040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425196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Saady Pacheco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saady@apops.org.ar  ·  +54 9 11 5544-8300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en vivo: </a:t>
            </a:r>
            <a:endParaRPr lang="en-US" sz="18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https://apops.vercel.app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público: </a:t>
            </a:r>
            <a:r>
              <a:rPr lang="en-US" sz="1300" b="1" dirty="0">
                <a:solidFill>
                  <a:srgbClr val="1F7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https://apops.vercel.app/software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492240"/>
            <a:ext cx="12188952" cy="27432"/>
          </a:xfrm>
          <a:prstGeom prst="rect">
            <a:avLst/>
          </a:prstGeom>
          <a:solidFill>
            <a:srgbClr val="1F72B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APOPS Siempre · Propuesta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817352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2421</Words>
  <Application>Microsoft Office PowerPoint</Application>
  <PresentationFormat>Panorámica</PresentationFormat>
  <Paragraphs>438</Paragraphs>
  <Slides>27</Slides>
  <Notes>27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APOPS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APOPS Siempre — Propuesta</dc:title>
  <dc:subject>PptxGenJS Presentation</dc:subject>
  <dc:creator>APOPS Siempre</dc:creator>
  <cp:lastModifiedBy>User</cp:lastModifiedBy>
  <cp:revision>2</cp:revision>
  <dcterms:created xsi:type="dcterms:W3CDTF">2026-06-01T21:41:19Z</dcterms:created>
  <dcterms:modified xsi:type="dcterms:W3CDTF">2026-06-01T21:50:33Z</dcterms:modified>
</cp:coreProperties>
</file>